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1675"/>
  <p:notesSz cx="6858000" cy="12191675"/>
  <p:embeddedFontLst>
    <p:embeddedFont>
      <p:font typeface="DM Sans SemiBold"/>
      <p:regular r:id="rId16"/>
      <p:bold r:id="rId17"/>
      <p:italic r:id="rId18"/>
      <p:boldItalic r:id="rId19"/>
    </p:embeddedFont>
    <p:embeddedFont>
      <p:font typeface="DM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wZwhfEyLiyeV9dT+NuDvwvKHo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regular.fntdata"/><Relationship Id="rId11" Type="http://schemas.openxmlformats.org/officeDocument/2006/relationships/slide" Target="slides/slide7.xml"/><Relationship Id="rId22" Type="http://schemas.openxmlformats.org/officeDocument/2006/relationships/font" Target="fonts/DMSans-italic.fntdata"/><Relationship Id="rId10" Type="http://schemas.openxmlformats.org/officeDocument/2006/relationships/slide" Target="slides/slide6.xml"/><Relationship Id="rId21" Type="http://schemas.openxmlformats.org/officeDocument/2006/relationships/font" Target="fonts/DMSans-bold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DMSa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DMSansSemiBold-bold.fntdata"/><Relationship Id="rId16" Type="http://schemas.openxmlformats.org/officeDocument/2006/relationships/font" Target="fonts/DMSansSemiBold-regular.fntdata"/><Relationship Id="rId5" Type="http://schemas.openxmlformats.org/officeDocument/2006/relationships/slide" Target="slides/slide1.xml"/><Relationship Id="rId19" Type="http://schemas.openxmlformats.org/officeDocument/2006/relationships/font" Target="fonts/DMSansSemiBold-boldItalic.fntdata"/><Relationship Id="rId6" Type="http://schemas.openxmlformats.org/officeDocument/2006/relationships/slide" Target="slides/slide2.xml"/><Relationship Id="rId18" Type="http://schemas.openxmlformats.org/officeDocument/2006/relationships/font" Target="fonts/DMSansSemiBold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b74be593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b74be593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fb74be593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/>
          <p:nvPr/>
        </p:nvSpPr>
        <p:spPr>
          <a:xfrm>
            <a:off x="661475" y="2793405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9C5461"/>
              </a:buClr>
              <a:buSzPts val="3700"/>
              <a:buFont typeface="DM Sans SemiBold"/>
              <a:buNone/>
            </a:pPr>
            <a:r>
              <a:rPr b="0" i="0" lang="en-US" sz="3700" u="none" cap="none" strike="noStrike">
                <a:solidFill>
                  <a:srgbClr val="9C546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Denunciar é Proteger Vidas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56682" y="3762077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None/>
            </a:pPr>
            <a:r>
              <a:rPr b="0" i="0" lang="en-US" sz="14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Um aplicativo para empoderar mulheres e transformar dados em ação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661475" y="545009"/>
            <a:ext cx="10868745" cy="443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9C5461"/>
              </a:buClr>
              <a:buSzPts val="2750"/>
              <a:buFont typeface="DM Sans SemiBold"/>
              <a:buNone/>
            </a:pPr>
            <a:r>
              <a:rPr b="0" i="0" lang="en-US" sz="2750" u="none" cap="none" strike="noStrike">
                <a:solidFill>
                  <a:srgbClr val="9C546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A Realidade da Violência Doméstica no Brasil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661475" y="1243112"/>
            <a:ext cx="582211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A violência doméstica é uma crise silenciosa que afeta milhões de mulheres brasileiras todos os dias. Os números revelam uma realidade alarmante — e a urgência de agir.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" name="Google Shape;2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5802" y="1267023"/>
            <a:ext cx="4700668" cy="3566616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"/>
          <p:cNvSpPr/>
          <p:nvPr/>
        </p:nvSpPr>
        <p:spPr>
          <a:xfrm>
            <a:off x="6531010" y="4953198"/>
            <a:ext cx="5310253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50"/>
              <a:buFont typeface="DM Sans"/>
              <a:buNone/>
            </a:pPr>
            <a:r>
              <a:rPr b="0" i="0" lang="en-US" sz="8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De cada 1.000 casos reais, apenas 100 chegam às autoridades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" name="Google Shape;3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475" y="5327154"/>
            <a:ext cx="3552042" cy="98583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898403" y="5487888"/>
            <a:ext cx="3154383" cy="664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8B2E5F"/>
              </a:buClr>
              <a:buSzPts val="1350"/>
              <a:buFont typeface="DM Sans SemiBold"/>
              <a:buNone/>
            </a:pPr>
            <a:r>
              <a:rPr b="0" i="0" lang="en-US" sz="1350" u="none" cap="none" strike="noStrike">
                <a:solidFill>
                  <a:srgbClr val="8B2E5F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1 em cada 4 mulheres</a:t>
            </a:r>
            <a:r>
              <a:rPr b="0" i="0" lang="en-US" sz="135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 sofre violência doméstica em algum momento da vida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" name="Google Shape;3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9777" y="5327154"/>
            <a:ext cx="3552042" cy="985837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/>
          <p:nvPr/>
        </p:nvSpPr>
        <p:spPr>
          <a:xfrm>
            <a:off x="4556706" y="5487888"/>
            <a:ext cx="3154383" cy="442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350"/>
              <a:buFont typeface="DM Sans SemiBold"/>
              <a:buNone/>
            </a:pPr>
            <a:r>
              <a:rPr b="0" i="0" lang="en-US" sz="1350" u="none" cap="none" strike="noStrike">
                <a:solidFill>
                  <a:srgbClr val="E63946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Subnotificação crítica:</a:t>
            </a:r>
            <a:r>
              <a:rPr b="0" i="0" lang="en-US" sz="135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 apenas 10% dos casos chegam às autoridades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" name="Google Shape;3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78079" y="5327154"/>
            <a:ext cx="3552042" cy="985837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8215008" y="5487888"/>
            <a:ext cx="3154383" cy="664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DM Sans"/>
              <a:buNone/>
            </a:pPr>
            <a:r>
              <a:rPr b="1" i="0" lang="en-US" sz="13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Cada denúncia pode salvar uma vida</a:t>
            </a:r>
            <a:r>
              <a:rPr b="0" i="0" lang="en-US" sz="135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 — mas muitas vítimas não conseguem denunciar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"/>
          <p:cNvSpPr/>
          <p:nvPr/>
        </p:nvSpPr>
        <p:spPr>
          <a:xfrm>
            <a:off x="661475" y="1129010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9C5461"/>
              </a:buClr>
              <a:buSzPts val="3700"/>
              <a:buFont typeface="DM Sans SemiBold"/>
              <a:buNone/>
            </a:pPr>
            <a:r>
              <a:rPr b="0" i="0" lang="en-US" sz="3700" u="none" cap="none" strike="noStrike">
                <a:solidFill>
                  <a:srgbClr val="9C546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As Barreiras que Silenciam as Vítimas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661475" y="2097683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None/>
            </a:pPr>
            <a:r>
              <a:rPr b="0" i="0" lang="en-US" sz="14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Denunciar não é simples. Múltiplos obstáculos se combinam para manter a maioria dos casos invisível e impune.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661475" y="2612727"/>
            <a:ext cx="3496877" cy="2147590"/>
          </a:xfrm>
          <a:prstGeom prst="roundRect">
            <a:avLst>
              <a:gd fmla="val 7921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  <a:effectLst>
            <a:outerShdw blurRad="127" rotWithShape="0" algn="bl" dir="2700000" dist="24130">
              <a:srgbClr val="E5B2B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856832" y="2808089"/>
            <a:ext cx="3106164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US" sz="1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😨</a:t>
            </a:r>
            <a:r>
              <a:rPr b="0" i="0" lang="en-US" sz="185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 Medo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856832" y="3223121"/>
            <a:ext cx="3106164" cy="1039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Char char="•"/>
            </a:pPr>
            <a:r>
              <a:rPr b="0" i="0" lang="en-US" sz="14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Represálias do agressor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Char char="•"/>
            </a:pPr>
            <a:r>
              <a:rPr b="0" i="0" lang="en-US" sz="14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Isolamento social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Char char="•"/>
            </a:pPr>
            <a:r>
              <a:rPr b="0" i="0" lang="en-US" sz="14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Perda de segurança financeira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347359" y="2612727"/>
            <a:ext cx="3496877" cy="2147590"/>
          </a:xfrm>
          <a:prstGeom prst="roundRect">
            <a:avLst>
              <a:gd fmla="val 7921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  <a:effectLst>
            <a:outerShdw blurRad="127" rotWithShape="0" algn="bl" dir="2700000" dist="24130">
              <a:srgbClr val="E5B2B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4542716" y="2808089"/>
            <a:ext cx="3106164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US" sz="1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💔</a:t>
            </a:r>
            <a:r>
              <a:rPr b="0" i="0" lang="en-US" sz="185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 Falta de Apoio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542716" y="3223121"/>
            <a:ext cx="3106164" cy="1039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Char char="•"/>
            </a:pPr>
            <a:r>
              <a:rPr b="0" i="0" lang="en-US" sz="14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Desconfiança nas instituições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Char char="•"/>
            </a:pPr>
            <a:r>
              <a:rPr b="0" i="0" lang="en-US" sz="14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Julgamento social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Char char="•"/>
            </a:pPr>
            <a:r>
              <a:rPr b="0" i="0" lang="en-US" sz="14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Culpabilização da vítima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8033244" y="2612727"/>
            <a:ext cx="3496877" cy="2147590"/>
          </a:xfrm>
          <a:prstGeom prst="roundRect">
            <a:avLst>
              <a:gd fmla="val 7921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  <a:effectLst>
            <a:outerShdw blurRad="127" rotWithShape="0" algn="bl" dir="2700000" dist="24130">
              <a:srgbClr val="E5B2B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8228600" y="2808089"/>
            <a:ext cx="3106164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US" sz="1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🚧</a:t>
            </a:r>
            <a:r>
              <a:rPr b="0" i="0" lang="en-US" sz="185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 Acesso Limitado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8228600" y="3223121"/>
            <a:ext cx="3106164" cy="1341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Char char="•"/>
            </a:pPr>
            <a:r>
              <a:rPr b="0" i="0" lang="en-US" sz="14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Delegacias distantes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Char char="•"/>
            </a:pPr>
            <a:r>
              <a:rPr b="0" i="0" lang="en-US" sz="14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Horários restritos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Char char="•"/>
            </a:pPr>
            <a:r>
              <a:rPr b="0" i="0" lang="en-US" sz="14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Processos burocráticos complexos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661475" y="4972943"/>
            <a:ext cx="10868745" cy="755948"/>
          </a:xfrm>
          <a:prstGeom prst="roundRect">
            <a:avLst>
              <a:gd fmla="val 22504" name="adj"/>
            </a:avLst>
          </a:prstGeom>
          <a:solidFill>
            <a:srgbClr val="FFB3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482" y="5240635"/>
            <a:ext cx="236234" cy="18901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"/>
          <p:cNvSpPr/>
          <p:nvPr/>
        </p:nvSpPr>
        <p:spPr>
          <a:xfrm>
            <a:off x="1275723" y="5209183"/>
            <a:ext cx="10675075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DM Sans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Resultado: a maioria dos casos permanece invisível e impune.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/>
          <p:nvPr/>
        </p:nvSpPr>
        <p:spPr>
          <a:xfrm>
            <a:off x="661475" y="546398"/>
            <a:ext cx="1053677" cy="287139"/>
          </a:xfrm>
          <a:prstGeom prst="roundRect">
            <a:avLst>
              <a:gd fmla="val 47396" name="adj"/>
            </a:avLst>
          </a:prstGeom>
          <a:solidFill>
            <a:srgbClr val="FFCC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774879" y="603052"/>
            <a:ext cx="1436453" cy="1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50"/>
              <a:buFont typeface="DM Sans"/>
              <a:buNone/>
            </a:pPr>
            <a:r>
              <a:rPr b="0" i="0" lang="en-US" sz="11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CAPÍTULO 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661475" y="909141"/>
            <a:ext cx="10868745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9C5461"/>
              </a:buClr>
              <a:buSzPts val="5100"/>
              <a:buFont typeface="DM Sans SemiBold"/>
              <a:buNone/>
            </a:pPr>
            <a:r>
              <a:rPr b="0" i="0" lang="en-US" sz="5100" u="none" cap="none" strike="noStrike">
                <a:solidFill>
                  <a:srgbClr val="9C546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Nossa Solução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56682" y="2007791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None/>
            </a:pPr>
            <a:r>
              <a:rPr b="0" i="0" lang="en-US" sz="14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Tecnologia a serviço da proteção e do empoderamento feminino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" name="Google Shape;6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4060" y="2522835"/>
            <a:ext cx="6383575" cy="378876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4"/>
          <p:cNvSpPr/>
          <p:nvPr/>
        </p:nvSpPr>
        <p:spPr>
          <a:xfrm>
            <a:off x="7347124" y="5432776"/>
            <a:ext cx="1586812" cy="305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00"/>
              <a:buFont typeface="DM Sans SemiBold"/>
              <a:buNone/>
            </a:pPr>
            <a:r>
              <a:rPr b="0" i="0" lang="en-US" sz="190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Proteja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5347307" y="5432776"/>
            <a:ext cx="1586812" cy="305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00"/>
              <a:buFont typeface="DM Sans SemiBold"/>
              <a:buNone/>
            </a:pPr>
            <a:r>
              <a:rPr b="0" i="0" lang="en-US" sz="190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Conecte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314884" y="5432776"/>
            <a:ext cx="1586812" cy="305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900"/>
              <a:buFont typeface="DM Sans SemiBold"/>
              <a:buNone/>
            </a:pPr>
            <a:r>
              <a:rPr b="0" i="0" lang="en-US" sz="190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Registre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9C5461"/>
              </a:buClr>
              <a:buSzPts val="1850"/>
              <a:buFont typeface="DM Sans SemiBold"/>
              <a:buNone/>
            </a:pPr>
            <a:r>
              <a:rPr b="0" i="0" lang="en-US" sz="1850" u="none" cap="none" strike="noStrike">
                <a:solidFill>
                  <a:srgbClr val="9C546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Um Aplicativo Seguro e Acessível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939006"/>
            <a:ext cx="5319083" cy="5319216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/>
          <p:nvPr/>
        </p:nvSpPr>
        <p:spPr>
          <a:xfrm>
            <a:off x="6217487" y="856808"/>
            <a:ext cx="53190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9C5461"/>
              </a:buClr>
              <a:buSzPts val="900"/>
              <a:buFont typeface="DM Sans SemiBold"/>
              <a:buNone/>
            </a:pPr>
            <a:r>
              <a:rPr b="0" i="0" lang="en-US" sz="1700" u="none" cap="none" strike="noStrike">
                <a:solidFill>
                  <a:srgbClr val="9C546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Projetado para quem mais precisa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217487" y="1160244"/>
            <a:ext cx="5319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700"/>
              <a:buFont typeface="DM Sans"/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O aplicativo foi desenvolvido com uma premissa central: </a:t>
            </a:r>
            <a:r>
              <a:rPr b="1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a segurança e a dignidade da vítima vêm primeiro</a:t>
            </a:r>
            <a:r>
              <a:rPr b="0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. Cada funcionalidade foi pensada para remover as barreiras que impedem a denúncia.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224338" y="2144033"/>
            <a:ext cx="50976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DM Sans SemiBold"/>
              <a:buNone/>
            </a:pPr>
            <a:r>
              <a:rPr b="0" i="0" lang="en-US" sz="170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Registro rápido e sigiloso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224338" y="2446613"/>
            <a:ext cx="5097600" cy="1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700"/>
              <a:buFont typeface="DM Sans"/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Denuncie em segundos, sem exposição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6203789" y="3363233"/>
            <a:ext cx="50979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DM Sans SemiBold"/>
              <a:buNone/>
            </a:pPr>
            <a:r>
              <a:rPr b="0" i="0" lang="en-US" sz="170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Geolocalização inteligente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203789" y="3647718"/>
            <a:ext cx="5097900" cy="1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700"/>
              <a:buFont typeface="DM Sans"/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Mapeie onde ocorreu o caso para análise de padrões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226349" y="2767871"/>
            <a:ext cx="50976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DM Sans SemiBold"/>
              <a:buNone/>
            </a:pPr>
            <a:r>
              <a:rPr b="0" i="0" lang="en-US" sz="170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Canal direto com autoridades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226349" y="3052356"/>
            <a:ext cx="5097600" cy="1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700"/>
              <a:buFont typeface="DM Sans"/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Conecte-se com delegacias, polícia e ONGs parceiras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203789" y="3909866"/>
            <a:ext cx="50979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DM Sans SemiBold"/>
              <a:buNone/>
            </a:pPr>
            <a:r>
              <a:rPr b="0" i="0" lang="en-US" sz="170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Apoio integrado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203789" y="4230541"/>
            <a:ext cx="5097900" cy="1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700"/>
              <a:buFont typeface="DM Sans"/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Acesso a psicólogos, informações sobre direitos e rede de proteção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/>
          <p:nvPr/>
        </p:nvSpPr>
        <p:spPr>
          <a:xfrm>
            <a:off x="661475" y="689570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9C5461"/>
              </a:buClr>
              <a:buSzPts val="3700"/>
              <a:buFont typeface="DM Sans SemiBold"/>
              <a:buNone/>
            </a:pPr>
            <a:r>
              <a:rPr b="0" i="0" lang="en-US" sz="3700" u="none" cap="none" strike="noStrike">
                <a:solidFill>
                  <a:srgbClr val="9C546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Funcionalidades que Empoderam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658243"/>
            <a:ext cx="5339820" cy="23117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3" name="Google Shape;9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9605" y="1822152"/>
            <a:ext cx="283461" cy="28346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6"/>
          <p:cNvSpPr/>
          <p:nvPr/>
        </p:nvSpPr>
        <p:spPr>
          <a:xfrm>
            <a:off x="875881" y="2439690"/>
            <a:ext cx="491100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850"/>
              <a:buFont typeface="DM Sans SemiBold"/>
              <a:buNone/>
            </a:pPr>
            <a:r>
              <a:rPr b="0" i="0" lang="en-US" sz="185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Histórico Seguro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875881" y="2848372"/>
            <a:ext cx="4911007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None/>
            </a:pPr>
            <a:r>
              <a:rPr b="0" i="0" lang="en-US" sz="14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Registre múltiplos incidentes com datas, horários e detalhes. Seus dados são criptografados e acessíveis apenas por você.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6" name="Google Shape;9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0301" y="1658243"/>
            <a:ext cx="5339919" cy="23117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" name="Google Shape;9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18530" y="1822152"/>
            <a:ext cx="283461" cy="28346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6"/>
          <p:cNvSpPr/>
          <p:nvPr/>
        </p:nvSpPr>
        <p:spPr>
          <a:xfrm>
            <a:off x="6404708" y="2439690"/>
            <a:ext cx="491110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850"/>
              <a:buFont typeface="DM Sans SemiBold"/>
              <a:buNone/>
            </a:pPr>
            <a:r>
              <a:rPr b="0" i="0" lang="en-US" sz="185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Documentação Automática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6404708" y="2848372"/>
            <a:ext cx="4911106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None/>
            </a:pPr>
            <a:r>
              <a:rPr b="0" i="0" lang="en-US" sz="14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Gere relatórios completos para uso em processos legais, com validade jurídica e organização cronológica.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" name="Google Shape;10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475" y="4159052"/>
            <a:ext cx="5339820" cy="20093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1" name="Google Shape;10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89605" y="4322961"/>
            <a:ext cx="283461" cy="28346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6"/>
          <p:cNvSpPr/>
          <p:nvPr/>
        </p:nvSpPr>
        <p:spPr>
          <a:xfrm>
            <a:off x="875881" y="4940498"/>
            <a:ext cx="491100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850"/>
              <a:buFont typeface="DM Sans SemiBold"/>
              <a:buNone/>
            </a:pPr>
            <a:r>
              <a:rPr b="0" i="0" lang="en-US" sz="185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Rede de Apoio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875881" y="5349180"/>
            <a:ext cx="4911007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None/>
            </a:pPr>
            <a:r>
              <a:rPr b="0" i="0" lang="en-US" sz="14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Conecte-se com outras mulheres, ONGs e profissionais de saúde que podem oferecer suporte imediato.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4" name="Google Shape;10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0301" y="4159052"/>
            <a:ext cx="5339919" cy="20093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5" name="Google Shape;105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18530" y="4322961"/>
            <a:ext cx="283461" cy="28346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"/>
          <p:cNvSpPr/>
          <p:nvPr/>
        </p:nvSpPr>
        <p:spPr>
          <a:xfrm>
            <a:off x="6404708" y="4940498"/>
            <a:ext cx="491110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850"/>
              <a:buFont typeface="DM Sans SemiBold"/>
              <a:buNone/>
            </a:pPr>
            <a:r>
              <a:rPr b="0" i="0" lang="en-US" sz="185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Modo Discreto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6404708" y="5349180"/>
            <a:ext cx="4911106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None/>
            </a:pPr>
            <a:r>
              <a:rPr b="0" i="0" lang="en-US" sz="14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Interface que não levanta suspeitas em dispositivos compartilhados — sua segurança é nossa prioridade.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/>
          <p:nvPr/>
        </p:nvSpPr>
        <p:spPr>
          <a:xfrm>
            <a:off x="661475" y="1352848"/>
            <a:ext cx="1055959" cy="287139"/>
          </a:xfrm>
          <a:prstGeom prst="roundRect">
            <a:avLst>
              <a:gd fmla="val 47396" name="adj"/>
            </a:avLst>
          </a:prstGeom>
          <a:solidFill>
            <a:srgbClr val="FFCC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774879" y="1409502"/>
            <a:ext cx="1438735" cy="1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50"/>
              <a:buFont typeface="DM Sans"/>
              <a:buNone/>
            </a:pPr>
            <a:r>
              <a:rPr b="0" i="0" lang="en-US" sz="11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CAPÍTULO 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661475" y="1715591"/>
            <a:ext cx="10868745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9C5461"/>
              </a:buClr>
              <a:buSzPts val="5100"/>
              <a:buFont typeface="DM Sans SemiBold"/>
              <a:buNone/>
            </a:pPr>
            <a:r>
              <a:rPr b="0" i="0" lang="en-US" sz="5100" u="none" cap="none" strike="noStrike">
                <a:solidFill>
                  <a:srgbClr val="9C546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Impacto Transformador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25350" y="2814241"/>
            <a:ext cx="3549958" cy="1750616"/>
          </a:xfrm>
          <a:prstGeom prst="roundRect">
            <a:avLst>
              <a:gd fmla="val 15548" name="adj"/>
            </a:avLst>
          </a:prstGeom>
          <a:solidFill>
            <a:srgbClr val="8B2E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714357" y="3003252"/>
            <a:ext cx="317194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DM Sans SemiBold"/>
              <a:buNone/>
            </a:pPr>
            <a:r>
              <a:rPr b="0" i="0" lang="en-US" sz="1850" u="none" cap="none" strike="noStrike">
                <a:solidFill>
                  <a:srgbClr val="FFFFFF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Empoderamento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714357" y="3487539"/>
            <a:ext cx="3171944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DM Sans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Mulheres recuperam o controle de suas próprias narrativas e acessam seus direitos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4406691" y="3003252"/>
            <a:ext cx="327770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9C5461"/>
              </a:buClr>
              <a:buSzPts val="1850"/>
              <a:buFont typeface="DM Sans SemiBold"/>
              <a:buNone/>
            </a:pPr>
            <a:r>
              <a:rPr b="0" i="0" lang="en-US" sz="1850" u="none" cap="none" strike="noStrike">
                <a:solidFill>
                  <a:srgbClr val="9C546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Visibilidade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406691" y="3487539"/>
            <a:ext cx="3277709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None/>
            </a:pPr>
            <a:r>
              <a:rPr b="0" i="0" lang="en-US" sz="14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Dados em tempo real revelam padrões e informam políticas públicas eficazes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8151906" y="3003252"/>
            <a:ext cx="339091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9C5461"/>
              </a:buClr>
              <a:buSzPts val="1850"/>
              <a:buFont typeface="DM Sans SemiBold"/>
              <a:buNone/>
            </a:pPr>
            <a:r>
              <a:rPr b="0" i="0" lang="en-US" sz="1850" u="none" cap="none" strike="noStrike">
                <a:solidFill>
                  <a:srgbClr val="9C546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Responsabilização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8151906" y="3487539"/>
            <a:ext cx="3390914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None/>
            </a:pPr>
            <a:r>
              <a:rPr b="0" i="0" lang="en-US" sz="14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Mais denúncias levam a mais investigações, condenações e prevenção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944936" y="4990108"/>
            <a:ext cx="1119486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None/>
            </a:pPr>
            <a:r>
              <a:rPr b="0" i="0" lang="en-US" sz="24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Com tecnologia e solidariedade, transformamos dor em esperança.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661475" y="4777482"/>
            <a:ext cx="25399" cy="727670"/>
          </a:xfrm>
          <a:prstGeom prst="roundRect">
            <a:avLst>
              <a:gd fmla="val 50001" name="adj"/>
            </a:avLst>
          </a:prstGeom>
          <a:solidFill>
            <a:srgbClr val="FFC7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/>
          <p:nvPr/>
        </p:nvSpPr>
        <p:spPr>
          <a:xfrm>
            <a:off x="661475" y="528141"/>
            <a:ext cx="10868745" cy="323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9C5461"/>
              </a:buClr>
              <a:buSzPts val="2000"/>
              <a:buFont typeface="DM Sans SemiBold"/>
              <a:buNone/>
            </a:pPr>
            <a:r>
              <a:rPr b="0" i="0" lang="en-US" sz="2000" u="none" cap="none" strike="noStrike">
                <a:solidFill>
                  <a:srgbClr val="9C546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Empoderamento das Mulheres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" name="Google Shape;1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999430"/>
            <a:ext cx="4752162" cy="475228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8"/>
          <p:cNvSpPr/>
          <p:nvPr/>
        </p:nvSpPr>
        <p:spPr>
          <a:xfrm>
            <a:off x="5672194" y="3141563"/>
            <a:ext cx="5864277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9C5461"/>
              </a:buClr>
              <a:buSzPts val="1000"/>
              <a:buFont typeface="DM Sans SemiBold"/>
              <a:buNone/>
            </a:pPr>
            <a:r>
              <a:rPr b="0" i="0" lang="en-US" sz="1000" u="none" cap="none" strike="noStrike">
                <a:solidFill>
                  <a:srgbClr val="9C546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Recuperando a voz e o poder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5672194" y="3359448"/>
            <a:ext cx="5864277" cy="2557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O aplicativo não é apenas uma ferramenta de denúncia — é um instrumento de </a:t>
            </a:r>
            <a:r>
              <a:rPr b="1" i="0" lang="en-US" sz="8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recuperação da agência</a:t>
            </a:r>
            <a:r>
              <a:rPr b="0" i="0" lang="en-US" sz="8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. Quando uma mulher registra um caso, ela dá o primeiro passo para retomar o controle de sua vida.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4" name="Google Shape;13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775" y="5866011"/>
            <a:ext cx="3588454" cy="47644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8"/>
          <p:cNvSpPr/>
          <p:nvPr/>
        </p:nvSpPr>
        <p:spPr>
          <a:xfrm>
            <a:off x="790158" y="5878711"/>
            <a:ext cx="3447071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DM Sans SemiBold"/>
              <a:buNone/>
            </a:pPr>
            <a:r>
              <a:rPr b="0" i="0" lang="en-US" sz="100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Recuperação da agência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790158" y="6073973"/>
            <a:ext cx="3447071" cy="2557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Mulheres tomam controle de suas próprias narrativas, documentando sua experiência com segurança e dignidade.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7" name="Google Shape;13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5171" y="5866011"/>
            <a:ext cx="3588553" cy="47644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8"/>
          <p:cNvSpPr/>
          <p:nvPr/>
        </p:nvSpPr>
        <p:spPr>
          <a:xfrm>
            <a:off x="4436555" y="5878711"/>
            <a:ext cx="3447170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DM Sans SemiBold"/>
              <a:buNone/>
            </a:pPr>
            <a:r>
              <a:rPr b="0" i="0" lang="en-US" sz="100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Acesso à informação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4436555" y="6073973"/>
            <a:ext cx="3447170" cy="2557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Conhecimento sobre direitos, recursos e opções de proteção disponíveis em todo o território nacional.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" name="Google Shape;14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41667" y="5866011"/>
            <a:ext cx="3588454" cy="476448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8"/>
          <p:cNvSpPr/>
          <p:nvPr/>
        </p:nvSpPr>
        <p:spPr>
          <a:xfrm>
            <a:off x="8083050" y="5878711"/>
            <a:ext cx="3447071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DM Sans SemiBold"/>
              <a:buNone/>
            </a:pPr>
            <a:r>
              <a:rPr b="0" i="0" lang="en-US" sz="100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Comunidade de apoio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8083050" y="6073973"/>
            <a:ext cx="3447071" cy="2557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Saber que não está sozinha reduz o isolamento e fortalece a coragem de agir.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/>
          <p:nvPr/>
        </p:nvSpPr>
        <p:spPr>
          <a:xfrm>
            <a:off x="661475" y="584795"/>
            <a:ext cx="10868745" cy="563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9C5461"/>
              </a:buClr>
              <a:buSzPts val="3500"/>
              <a:buFont typeface="DM Sans SemiBold"/>
              <a:buNone/>
            </a:pPr>
            <a:r>
              <a:rPr b="0" i="0" lang="en-US" sz="3500" u="none" cap="none" strike="noStrike">
                <a:solidFill>
                  <a:srgbClr val="9C546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Visibilidade que Gera Mudança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661475" y="1491258"/>
            <a:ext cx="11478330" cy="281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Cada registro transforma uma experiência individual em dado coletivo — e dados coletivos transformam políticas públicas.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661475" y="2159099"/>
            <a:ext cx="405298" cy="405309"/>
          </a:xfrm>
          <a:prstGeom prst="roundRect">
            <a:avLst>
              <a:gd fmla="val 40006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  <a:effectLst>
            <a:outerShdw blurRad="127" rotWithShape="0" algn="bl" dir="2700000" dist="22860">
              <a:srgbClr val="E5B2B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728992" y="2192834"/>
            <a:ext cx="270166" cy="3377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100"/>
              <a:buFont typeface="DM Sans SemiBold"/>
              <a:buNone/>
            </a:pPr>
            <a:r>
              <a:rPr b="0" i="0" lang="en-US" sz="210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1238417" y="2221012"/>
            <a:ext cx="5203000" cy="281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750"/>
              <a:buFont typeface="DM Sans SemiBold"/>
              <a:buNone/>
            </a:pPr>
            <a:r>
              <a:rPr b="0" i="0" lang="en-US" sz="175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Dados em tempo real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1238417" y="2674144"/>
            <a:ext cx="5203000" cy="5629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Mapeamento de </a:t>
            </a:r>
            <a:r>
              <a:rPr b="0" i="1" lang="en-US" sz="14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hotspots</a:t>
            </a:r>
            <a:r>
              <a:rPr b="0" i="0" lang="en-US" sz="14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 de violência para alocação estratégica de recursos e forças de segurança.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661475" y="3580507"/>
            <a:ext cx="405298" cy="405309"/>
          </a:xfrm>
          <a:prstGeom prst="roundRect">
            <a:avLst>
              <a:gd fmla="val 40006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  <a:effectLst>
            <a:outerShdw blurRad="127" rotWithShape="0" algn="bl" dir="2700000" dist="22860">
              <a:srgbClr val="E5B2B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728992" y="3614241"/>
            <a:ext cx="270166" cy="3377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100"/>
              <a:buFont typeface="DM Sans SemiBold"/>
              <a:buNone/>
            </a:pPr>
            <a:r>
              <a:rPr b="0" i="0" lang="en-US" sz="210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1238417" y="3642420"/>
            <a:ext cx="5203000" cy="281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750"/>
              <a:buFont typeface="DM Sans SemiBold"/>
              <a:buNone/>
            </a:pPr>
            <a:r>
              <a:rPr b="0" i="0" lang="en-US" sz="175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Políticas públicas informadas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1238417" y="4095552"/>
            <a:ext cx="5203000" cy="5629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Decisões baseadas em dados reais, não em estimativas — garantindo intervenções mais eficazes e direcionadas.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661475" y="5001915"/>
            <a:ext cx="405298" cy="405309"/>
          </a:xfrm>
          <a:prstGeom prst="roundRect">
            <a:avLst>
              <a:gd fmla="val 40006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  <a:effectLst>
            <a:outerShdw blurRad="127" rotWithShape="0" algn="bl" dir="2700000" dist="22860">
              <a:srgbClr val="E5B2B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728992" y="5035649"/>
            <a:ext cx="270166" cy="3377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100"/>
              <a:buFont typeface="DM Sans SemiBold"/>
              <a:buNone/>
            </a:pPr>
            <a:r>
              <a:rPr b="0" i="0" lang="en-US" sz="210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1238417" y="5063827"/>
            <a:ext cx="5203000" cy="281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750"/>
              <a:buFont typeface="DM Sans SemiBold"/>
              <a:buNone/>
            </a:pPr>
            <a:r>
              <a:rPr b="0" i="0" lang="en-US" sz="175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Responsabilização sistêmica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1238417" y="5516959"/>
            <a:ext cx="5203000" cy="5629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O aumento de denúncias leva a mais investigações, mais condenações e maior prevenção da reincidência.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2" name="Google Shape;16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87296" y="2159099"/>
            <a:ext cx="4649175" cy="352752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9"/>
          <p:cNvSpPr/>
          <p:nvPr/>
        </p:nvSpPr>
        <p:spPr>
          <a:xfrm>
            <a:off x="6582503" y="5879802"/>
            <a:ext cx="5258760" cy="225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Projeção ilustrativa de crescimento em denúncias e investigações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/>
          <p:nvPr/>
        </p:nvSpPr>
        <p:spPr>
          <a:xfrm>
            <a:off x="661475" y="902196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9C5461"/>
              </a:buClr>
              <a:buSzPts val="3700"/>
              <a:buFont typeface="DM Sans SemiBold"/>
              <a:buNone/>
            </a:pPr>
            <a:r>
              <a:rPr b="0" i="0" lang="en-US" sz="3700" u="none" cap="none" strike="noStrike">
                <a:solidFill>
                  <a:srgbClr val="9C546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Uma Rede de Proteção Confiável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661475" y="1870869"/>
            <a:ext cx="10868745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None/>
            </a:pPr>
            <a:r>
              <a:rPr b="0" i="0" lang="en-US" sz="14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Nenhuma mulher deve enfrentar o sistema sozinha. O aplicativo é o ponto de entrada para um ecossistema completo de proteção e suporte.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1" name="Google Shape;17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688332"/>
            <a:ext cx="472468" cy="47248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0"/>
          <p:cNvSpPr/>
          <p:nvPr/>
        </p:nvSpPr>
        <p:spPr>
          <a:xfrm>
            <a:off x="661475" y="3397052"/>
            <a:ext cx="346542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850"/>
              <a:buFont typeface="DM Sans SemiBold"/>
              <a:buNone/>
            </a:pPr>
            <a:r>
              <a:rPr b="0" i="0" lang="en-US" sz="185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Autoridades Parceiras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661475" y="3805734"/>
            <a:ext cx="3465426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None/>
            </a:pPr>
            <a:r>
              <a:rPr b="0" i="0" lang="en-US" sz="14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Parcerias com delegacias, polícia militar e órgãos de proteção para resposta rápida e eficaz.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4" name="Google Shape;17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3135" y="2688332"/>
            <a:ext cx="472468" cy="47248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0"/>
          <p:cNvSpPr/>
          <p:nvPr/>
        </p:nvSpPr>
        <p:spPr>
          <a:xfrm>
            <a:off x="4363135" y="3397052"/>
            <a:ext cx="346542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850"/>
              <a:buFont typeface="DM Sans SemiBold"/>
              <a:buNone/>
            </a:pPr>
            <a:r>
              <a:rPr b="0" i="0" lang="en-US" sz="185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ONGs Especializadas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4363135" y="3805734"/>
            <a:ext cx="3465426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None/>
            </a:pPr>
            <a:r>
              <a:rPr b="0" i="0" lang="en-US" sz="14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Integração com organizações especializadas em violência contra mulheres, prontas para acolher e orientar.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7" name="Google Shape;17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4794" y="2688332"/>
            <a:ext cx="472468" cy="47248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0"/>
          <p:cNvSpPr/>
          <p:nvPr/>
        </p:nvSpPr>
        <p:spPr>
          <a:xfrm>
            <a:off x="8064794" y="3397052"/>
            <a:ext cx="346542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850"/>
              <a:buFont typeface="DM Sans SemiBold"/>
              <a:buNone/>
            </a:pPr>
            <a:r>
              <a:rPr b="0" i="0" lang="en-US" sz="185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Saúde Mental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8064794" y="3805734"/>
            <a:ext cx="3465426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None/>
            </a:pPr>
            <a:r>
              <a:rPr b="0" i="0" lang="en-US" sz="14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Profissionais de saúde mental disponíveis para acolhimento imediato, porque curar vai além do processo legal.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944936" y="5440660"/>
            <a:ext cx="1119486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None/>
            </a:pPr>
            <a:r>
              <a:rPr b="1" i="0" lang="en-US" sz="14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Cada denúncia pode salvar uma vida.</a:t>
            </a:r>
            <a:r>
              <a:rPr b="0" i="0" lang="en-US" sz="14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 Com tecnologia e solidariedade, transformamos dor em esperança.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661475" y="5228034"/>
            <a:ext cx="25399" cy="727670"/>
          </a:xfrm>
          <a:prstGeom prst="roundRect">
            <a:avLst>
              <a:gd fmla="val 50001" name="adj"/>
            </a:avLst>
          </a:prstGeom>
          <a:solidFill>
            <a:srgbClr val="FFC7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b74be593f_0_0"/>
          <p:cNvSpPr/>
          <p:nvPr/>
        </p:nvSpPr>
        <p:spPr>
          <a:xfrm>
            <a:off x="661475" y="1969002"/>
            <a:ext cx="10868700" cy="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9C5461"/>
              </a:buClr>
              <a:buSzPts val="3700"/>
              <a:buFont typeface="DM Sans SemiBold"/>
              <a:buNone/>
            </a:pPr>
            <a:r>
              <a:rPr lang="en-US" sz="4800">
                <a:solidFill>
                  <a:srgbClr val="9C546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Obrigado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fb74be593f_0_0"/>
          <p:cNvSpPr/>
          <p:nvPr/>
        </p:nvSpPr>
        <p:spPr>
          <a:xfrm>
            <a:off x="661475" y="3090069"/>
            <a:ext cx="108687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None/>
            </a:pPr>
            <a:r>
              <a:rPr lang="en-US" sz="24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FATEC RIO CLARO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2026-09-16T12:30:01Z</dcterms:created>
</cp:coreProperties>
</file>