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17"/>
  </p:notesMasterIdLst>
  <p:sldIdLst>
    <p:sldId id="256" r:id="rId16"/>
    <p:sldId id="257" r:id="rId20"/>
    <p:sldId id="258" r:id="rId22"/>
    <p:sldId id="259" r:id="rId24"/>
    <p:sldId id="260" r:id="rId26"/>
    <p:sldId id="261" r:id="rId28"/>
    <p:sldId id="262" r:id="rId30"/>
    <p:sldId id="263" r:id="rId32"/>
    <p:sldId id="264" r:id="rId34"/>
    <p:sldId id="265" r:id="rId36"/>
  </p:sldIdLst>
  <p:sldSz cx="24384000" cy="13716000"/>
  <p:notesSz cx="6858000" cy="9144000"/>
  <p:embeddedFontLst>
    <p:embeddedFont>
      <p:font typeface="Embedded Poppins"/>
      <p:regular r:id="rId9"/>
      <p:bold r:id="rId6"/>
      <p:italic r:id="rId8"/>
      <p:boldItalic r:id="rId7"/>
    </p:embeddedFont>
    <p:embeddedFont>
      <p:font typeface="Embedded Julius Sans One"/>
      <p:regular r:id="rId10"/>
    </p:embeddedFont>
    <p:embeddedFont>
      <p:font typeface="Embedded Inter"/>
      <p:regular r:id="rId14"/>
      <p:bold r:id="rId11"/>
      <p:italic r:id="rId13"/>
      <p:boldItalic r:id="rId12"/>
    </p:embeddedFont>
    <p:embeddedFont>
      <p:font typeface="Prezi Bullet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5.fntdata" Type="http://schemas.openxmlformats.org/officeDocument/2006/relationships/font"/><Relationship Id="rId11" Target="fonts/font6.fntdata" Type="http://schemas.openxmlformats.org/officeDocument/2006/relationships/font"/><Relationship Id="rId12" Target="fonts/font7.fntdata" Type="http://schemas.openxmlformats.org/officeDocument/2006/relationships/font"/><Relationship Id="rId13" Target="fonts/font8.fntdata" Type="http://schemas.openxmlformats.org/officeDocument/2006/relationships/font"/><Relationship Id="rId14" Target="fonts/font9.fntdata" Type="http://schemas.openxmlformats.org/officeDocument/2006/relationships/font"/><Relationship Id="rId15" Target="fonts/font10.fntdata" Type="http://schemas.openxmlformats.org/officeDocument/2006/relationships/font"/><Relationship Id="rId16" Target="slides/slide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slides/slide2.xml" Type="http://schemas.openxmlformats.org/officeDocument/2006/relationships/slide"/><Relationship Id="rId21" Target="notesSlides/notesSlide2.xml" Type="http://schemas.openxmlformats.org/officeDocument/2006/relationships/notesSlide"/><Relationship Id="rId22" Target="slides/slide3.xml" Type="http://schemas.openxmlformats.org/officeDocument/2006/relationships/slide"/><Relationship Id="rId23" Target="notesSlides/notesSlide3.xml" Type="http://schemas.openxmlformats.org/officeDocument/2006/relationships/notesSlide"/><Relationship Id="rId24" Target="slides/slide4.xml" Type="http://schemas.openxmlformats.org/officeDocument/2006/relationships/slide"/><Relationship Id="rId25" Target="notesSlides/notesSlide4.xml" Type="http://schemas.openxmlformats.org/officeDocument/2006/relationships/notesSlide"/><Relationship Id="rId26" Target="slides/slide5.xml" Type="http://schemas.openxmlformats.org/officeDocument/2006/relationships/slide"/><Relationship Id="rId27" Target="notesSlides/notesSlide5.xml" Type="http://schemas.openxmlformats.org/officeDocument/2006/relationships/notesSlide"/><Relationship Id="rId28" Target="slides/slide6.xml" Type="http://schemas.openxmlformats.org/officeDocument/2006/relationships/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slides/slide7.xml" Type="http://schemas.openxmlformats.org/officeDocument/2006/relationships/slide"/><Relationship Id="rId31" Target="notesSlides/notesSlide7.xml" Type="http://schemas.openxmlformats.org/officeDocument/2006/relationships/notesSlide"/><Relationship Id="rId32" Target="slides/slide8.xml" Type="http://schemas.openxmlformats.org/officeDocument/2006/relationships/slide"/><Relationship Id="rId33" Target="notesSlides/notesSlide8.xml" Type="http://schemas.openxmlformats.org/officeDocument/2006/relationships/notesSlide"/><Relationship Id="rId34" Target="slides/slide9.xml" Type="http://schemas.openxmlformats.org/officeDocument/2006/relationships/slide"/><Relationship Id="rId35" Target="notesSlides/notesSlide9.xml" Type="http://schemas.openxmlformats.org/officeDocument/2006/relationships/notesSlide"/><Relationship Id="rId36" Target="slides/slide10.xml" Type="http://schemas.openxmlformats.org/officeDocument/2006/relationships/slide"/><Relationship Id="rId37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fonts/font3.fntdata" Type="http://schemas.openxmlformats.org/officeDocument/2006/relationships/font"/><Relationship Id="rId9" Target="fonts/font4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6.png" Type="http://schemas.openxmlformats.org/officeDocument/2006/relationships/image"/><Relationship Id="rId7" Target="../media/image34.pn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  <a:effectLst>
            <a:outerShdw algn="ctr" blurRad="6169628" dir="5400000" dist="514135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327919" y="4758612"/>
            <a:ext cx="559837" cy="55983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1891005" y="5458408"/>
            <a:ext cx="20601991" cy="139546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81" b="0" i="0" u="none" strike="noStrike">
                <a:solidFill>
                  <a:srgbClr val="9C5461"/>
                </a:solidFill>
                <a:latin typeface="Embedded Julius Sans One"/>
              </a:rPr>
              <a:t>DENUNCIAR É PROTEGER VIDAS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1885064" y="8490857"/>
            <a:ext cx="20693087" cy="139959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3" b="0" i="0" u="none" strike="noStrike">
                <a:solidFill>
                  <a:srgbClr val="4A4A4A"/>
                </a:solidFill>
                <a:latin typeface="Embedded Inter"/>
              </a:rPr>
              <a:t>Um aplicativo para empoderar mulheres e transformar dados em 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  <a:effectLst>
            <a:outerShdw algn="ctr" blurRad="6169628" dir="5400000" dist="514135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266" y="559837"/>
            <a:ext cx="9330612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45550" y="1959429"/>
            <a:ext cx="10450285" cy="979714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2488163" y="4758613"/>
            <a:ext cx="7464489" cy="6531428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A violência doméstica é uma crise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silenciosa que afeta milhões de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mulheres brasileiras. De cada 1.000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casos reais, apenas 100 chegam às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autoridades. A subnotificação crítica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significa que apenas 10% dos casos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são reportados, mas cada denúncia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pode salvar uma vida.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2488163" y="2052735"/>
            <a:ext cx="8584163" cy="233265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877" b="0" i="0" u="none" strike="noStrike">
                <a:solidFill>
                  <a:srgbClr val="9C5461"/>
                </a:solidFill>
                <a:latin typeface="Embedded Julius Sans One"/>
              </a:rPr>
              <a:t>A REALIDADE NO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877" b="0" i="0" u="none" strike="noStrike">
                <a:solidFill>
                  <a:srgbClr val="9C5461"/>
                </a:solidFill>
                <a:latin typeface="Embedded Julius Sans One"/>
              </a:rPr>
              <a:t>BRASIL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0572" y="339303"/>
            <a:ext cx="23222857" cy="1303739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0572" y="339303"/>
            <a:ext cx="23222857" cy="13037393"/>
          </a:xfrm>
          <a:prstGeom prst="rect">
            <a:avLst/>
          </a:prstGeom>
          <a:effectLst>
            <a:outerShdw algn="ctr" blurRad="9778045" dir="5400000" dist="814837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1714" y="4680857"/>
            <a:ext cx="6192762" cy="483809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095619" y="4680857"/>
            <a:ext cx="6192762" cy="483809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449525" y="4680857"/>
            <a:ext cx="6192762" cy="483809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174171" y="1487714"/>
            <a:ext cx="24035658" cy="116114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95" b="0" i="0" u="none" strike="noStrike">
                <a:solidFill>
                  <a:srgbClr val="9C5461"/>
                </a:solidFill>
                <a:latin typeface="Embedded Julius Sans One"/>
              </a:rPr>
              <a:t>AS BARREIRAS QUE SILENCIAM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1833638" y="6616095"/>
            <a:ext cx="6008915" cy="2419048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Represálias do agressor,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isolamento social e perda de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segurança financeira.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9187543" y="6616095"/>
            <a:ext cx="6008915" cy="2419048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Desconfiança nas instituições,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julgamento social e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culpabilização da vítima.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16541449" y="6616095"/>
            <a:ext cx="6008915" cy="2419048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Delegacias distantes, horários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restritos e processos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burocráticos complexos.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1277257" y="5648476"/>
            <a:ext cx="7121676" cy="72571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809" b="0" i="0" u="none" strike="noStrike">
                <a:solidFill>
                  <a:srgbClr val="9C5461"/>
                </a:solidFill>
                <a:ea typeface="Embedded Julius Sans One"/>
              </a:rPr>
              <a:t>😨 Medo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8631162" y="5648476"/>
            <a:ext cx="7121676" cy="72571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809" b="0" i="0" u="none" strike="noStrike">
                <a:solidFill>
                  <a:srgbClr val="9C5461"/>
                </a:solidFill>
                <a:ea typeface="Embedded Julius Sans One"/>
              </a:rPr>
              <a:t>💔 Falta de Apoio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15985068" y="5648476"/>
            <a:ext cx="7121676" cy="72571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809" b="0" i="0" u="none" strike="noStrike">
                <a:solidFill>
                  <a:srgbClr val="9C5461"/>
                </a:solidFill>
                <a:ea typeface="Embedded Julius Sans One"/>
              </a:rPr>
              <a:t>🚧 Acesso Limitado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  <a:effectLst>
            <a:outerShdw algn="ctr" blurRad="6169628" dir="5400000" dist="514135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34613" y="9890448"/>
            <a:ext cx="559837" cy="55983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34612" y="5691673"/>
            <a:ext cx="2799184" cy="2332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3234613" y="6158203"/>
            <a:ext cx="20601991" cy="279918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816" b="0" i="0" u="none" strike="noStrike">
                <a:solidFill>
                  <a:srgbClr val="FFFFFF"/>
                </a:solidFill>
                <a:latin typeface="Embedded Julius Sans One"/>
              </a:rPr>
              <a:t>CAPÍTULO 2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816" b="0" i="0" u="none" strike="noStrike">
                <a:solidFill>
                  <a:srgbClr val="FFFFFF"/>
                </a:solidFill>
                <a:latin typeface="Embedded Julius Sans One"/>
              </a:rPr>
              <a:t>NOSSA SOLUÇÃO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0572" y="377203"/>
            <a:ext cx="23222857" cy="1296159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0572" y="377203"/>
            <a:ext cx="23222857" cy="12961595"/>
          </a:xfrm>
          <a:prstGeom prst="rect">
            <a:avLst/>
          </a:prstGeom>
          <a:effectLst>
            <a:outerShdw algn="ctr" blurRad="12961594" dir="5400000" dist="1080132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28762" y="1778000"/>
            <a:ext cx="9676190" cy="10160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0">
            <a:off x="12966095" y="4197048"/>
            <a:ext cx="9289143" cy="7257143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Projetado com a segurança e dignidade da vítima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em primeiro lugar, cada funcionalidade remove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barreiras para facilitar a denúncia. O aplicativo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oferece registro rápido e sigiloso, geolocalização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inteligente para mapeamento de padrões, canal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direto com autoridades e apoio integrado com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psicólogos e informações sobre direitos.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 rot="0">
            <a:off x="12966095" y="1874762"/>
            <a:ext cx="10682515" cy="1935238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95" b="0" i="0" u="none" strike="noStrike">
                <a:solidFill>
                  <a:srgbClr val="9C5461"/>
                </a:solidFill>
                <a:latin typeface="Embedded Julius Sans One"/>
              </a:rPr>
              <a:t>UM APLICATIVO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95" b="0" i="0" u="none" strike="noStrike">
                <a:solidFill>
                  <a:srgbClr val="9C5461"/>
                </a:solidFill>
                <a:latin typeface="Embedded Julius Sans One"/>
              </a:rPr>
              <a:t>SEGURO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0572" y="471714"/>
            <a:ext cx="23222857" cy="1277257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0572" y="471714"/>
            <a:ext cx="23222857" cy="12772572"/>
          </a:xfrm>
          <a:prstGeom prst="rect">
            <a:avLst/>
          </a:prstGeom>
          <a:effectLst>
            <a:outerShdw algn="ctr" blurRad="13933714" dir="5400000" dist="1161142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3651" y="3705175"/>
            <a:ext cx="10176127" cy="3886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74223" y="3705175"/>
            <a:ext cx="10176127" cy="388660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3651" y="8059460"/>
            <a:ext cx="10176127" cy="388660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74223" y="8059460"/>
            <a:ext cx="10176127" cy="388660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 rot="0">
            <a:off x="174171" y="1487714"/>
            <a:ext cx="24035658" cy="116114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33" b="0" i="0" u="none" strike="noStrike">
                <a:solidFill>
                  <a:srgbClr val="9C5461"/>
                </a:solidFill>
                <a:latin typeface="Embedded Julius Sans One"/>
              </a:rPr>
              <a:t>FUNCIONALIDADES QUE EMPODERAM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2225524" y="4922762"/>
            <a:ext cx="9192381" cy="2177143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Mantenha um registro seguro e criptografado de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múltiplos incidentes, com datas, horários e detalhes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acessíveis apenas para você.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12966096" y="4922762"/>
            <a:ext cx="9192381" cy="2177143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Gere relatórios completos e cronológicos para uso em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processos legais, garantindo que sua documentação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tenha validade jurídica.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2225524" y="9277048"/>
            <a:ext cx="9192381" cy="2177143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Conecte-se com outras mulheres, ONGs e profissionais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de saúde que oferecem suporte imediato e orientação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especializada.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12966096" y="9277048"/>
            <a:ext cx="9192381" cy="2177143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Utilize uma interface discreta que não levanta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suspeitas em dispositivos compartilhados, priorizando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42" b="0" i="0" u="none" strike="noStrike">
                <a:solidFill>
                  <a:srgbClr val="4A4A4A"/>
                </a:solidFill>
                <a:latin typeface="Embedded Inter"/>
              </a:rPr>
              <a:t>sua segurança em todos os momentos.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 rot="0">
            <a:off x="2225524" y="4197047"/>
            <a:ext cx="10571238" cy="58057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52" b="0" i="0" u="none" strike="noStrike">
                <a:solidFill>
                  <a:srgbClr val="9C5461"/>
                </a:solidFill>
                <a:latin typeface="Embedded Julius Sans One"/>
              </a:rPr>
              <a:t>Histórico Seguro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 rot="0">
            <a:off x="12966096" y="4197047"/>
            <a:ext cx="10571238" cy="58057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52" b="0" i="0" u="none" strike="noStrike">
                <a:solidFill>
                  <a:srgbClr val="9C5461"/>
                </a:solidFill>
                <a:latin typeface="Embedded Julius Sans One"/>
              </a:rPr>
              <a:t>Documentação Automática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 rot="0">
            <a:off x="2225524" y="8551333"/>
            <a:ext cx="10571238" cy="58057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52" b="0" i="0" u="none" strike="noStrike">
                <a:solidFill>
                  <a:srgbClr val="9C5461"/>
                </a:solidFill>
                <a:latin typeface="Embedded Julius Sans One"/>
              </a:rPr>
              <a:t>Rede de Apoio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 rot="0">
            <a:off x="12966096" y="8551333"/>
            <a:ext cx="10571238" cy="58057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52" b="0" i="0" u="none" strike="noStrike">
                <a:solidFill>
                  <a:srgbClr val="9C5461"/>
                </a:solidFill>
                <a:latin typeface="Embedded Julius Sans One"/>
              </a:rPr>
              <a:t>Modo Discreto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  <a:effectLst>
            <a:outerShdw algn="ctr" blurRad="6169628" dir="5400000" dist="514135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34613" y="9890448"/>
            <a:ext cx="559837" cy="55983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34612" y="5691673"/>
            <a:ext cx="2799184" cy="2332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3234613" y="6158203"/>
            <a:ext cx="20601991" cy="279918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816" b="0" i="0" u="none" strike="noStrike">
                <a:solidFill>
                  <a:srgbClr val="FFFFFF"/>
                </a:solidFill>
                <a:latin typeface="Embedded Julius Sans One"/>
              </a:rPr>
              <a:t>CAPÍTULO 3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816" b="0" i="0" u="none" strike="noStrike">
                <a:solidFill>
                  <a:srgbClr val="FFFFFF"/>
                </a:solidFill>
                <a:latin typeface="Embedded Julius Sans One"/>
              </a:rPr>
              <a:t>IMPACTO TRANSFORMADOR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27074" y="559837"/>
            <a:ext cx="22329853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7074" y="559837"/>
            <a:ext cx="22329853" cy="12596326"/>
          </a:xfrm>
          <a:prstGeom prst="rect">
            <a:avLst/>
          </a:prstGeom>
          <a:effectLst>
            <a:outerShdw algn="ctr" blurRad="13741445" dir="5400000" dist="1145120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058122" y="559837"/>
            <a:ext cx="9330612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88164" y="4991877"/>
            <a:ext cx="1399592" cy="4665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2488163" y="5691674"/>
            <a:ext cx="10263674" cy="5598367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O aplicativo não é apenas uma ferramenta de denúncia,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mas um instrumento de recuperação da agência. Ao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registrar um caso, a mulher dá o primeiro passo para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retomar o controle de sua vida, documentando sua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experiência com segurança e dignidade. O acesso à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informação sobre seus direitos e a uma comunidade de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74" b="0" i="0" u="none" strike="noStrike">
                <a:solidFill>
                  <a:srgbClr val="4A4A4A"/>
                </a:solidFill>
                <a:latin typeface="Embedded Inter"/>
              </a:rPr>
              <a:t>apoio reduz o isolamento e fortalece a coragem de agir.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2488163" y="2425959"/>
            <a:ext cx="11803225" cy="2099388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12" b="0" i="0" u="none" strike="noStrike">
                <a:solidFill>
                  <a:srgbClr val="9C5461"/>
                </a:solidFill>
                <a:latin typeface="Embedded Julius Sans One"/>
              </a:rPr>
              <a:t>RECUPERANDO A VOZ 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12" b="0" i="0" u="none" strike="noStrike">
                <a:solidFill>
                  <a:srgbClr val="9C5461"/>
                </a:solidFill>
                <a:latin typeface="Embedded Julius Sans One"/>
              </a:rPr>
              <a:t>O PODER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96685" y="326572"/>
            <a:ext cx="22990629" cy="130628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6685" y="326572"/>
            <a:ext cx="22990629" cy="13062857"/>
          </a:xfrm>
          <a:prstGeom prst="rect">
            <a:avLst/>
          </a:prstGeom>
          <a:effectLst>
            <a:outerShdw algn="ctr" blurRad="12540341" dir="5400000" dist="1045028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66095" y="3713238"/>
            <a:ext cx="9289143" cy="5805714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0">
            <a:off x="2128762" y="3713238"/>
            <a:ext cx="9676191" cy="7740952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Cada registro transforma uma experiência individual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em dado coletivo, impulsionando políticas públicas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mais eficazes. Mapeamos "hotspots" de violência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para alocar recursos de segurança de forma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estratégica. Decisões baseadas em dados reais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garantem intervenções mais direcionadas, e 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aumento de denúncias leva a mais investigações,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4A4A4A"/>
                </a:solidFill>
                <a:latin typeface="Embedded Inter"/>
              </a:rPr>
              <a:t>condenações e prevenção da reincidência.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Inter"/>
              </a:rPr>
              <a:t> 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66095" y="3713238"/>
            <a:ext cx="9289143" cy="580571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2128762" y="1487714"/>
            <a:ext cx="23145448" cy="116114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33" b="0" i="0" u="none" strike="noStrike">
                <a:solidFill>
                  <a:srgbClr val="9C5461"/>
                </a:solidFill>
                <a:latin typeface="Embedded Julius Sans One"/>
              </a:rPr>
              <a:t>VISIBILIDADE QUE GERA MUDANÇA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Julius Sans On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12269409" y="9760857"/>
            <a:ext cx="10682515" cy="967619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38" b="0" i="0" u="none" strike="noStrike">
                <a:solidFill>
                  <a:srgbClr val="9A8880"/>
                </a:solidFill>
                <a:latin typeface="Embedded Inter"/>
              </a:rPr>
              <a:t>Projeção ilustrativa de crescimento em denúncias e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38" b="0" i="0" u="none" strike="noStrike">
                <a:solidFill>
                  <a:srgbClr val="9A8880"/>
                </a:solidFill>
                <a:latin typeface="Embedded Inter"/>
              </a:rPr>
              <a:t>investigações.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9548" y="559837"/>
            <a:ext cx="22364905" cy="12596326"/>
          </a:xfrm>
          <a:prstGeom prst="rect">
            <a:avLst/>
          </a:prstGeom>
          <a:effectLst>
            <a:outerShdw algn="ctr" blurRad="6169628" dir="5400000" dist="514135" sx="100000" sy="100000">
              <a:srgbClr val="4A4A4A">
                <a:alpha val="12156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12082" y="3359020"/>
            <a:ext cx="559837" cy="55983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859347" y="10356979"/>
            <a:ext cx="4665306" cy="46653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3607837" y="4292082"/>
            <a:ext cx="17168325" cy="279918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979" b="0" i="0" u="none" strike="noStrike">
                <a:solidFill>
                  <a:srgbClr val="9C5461"/>
                </a:solidFill>
                <a:latin typeface="Embedded Julius Sans One"/>
              </a:rPr>
              <a:t>NENHUMA MULHER DEVE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979" b="0" i="0" u="none" strike="noStrike">
                <a:solidFill>
                  <a:srgbClr val="9C5461"/>
                </a:solidFill>
                <a:latin typeface="Embedded Julius Sans One"/>
              </a:rPr>
              <a:t>ENFRENTAR O SISTEMA SOZINHA.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6593633" y="7557795"/>
            <a:ext cx="11196734" cy="233265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O aplicativo é o ponto de entrada para um ecossistema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completo de proteção e suporte, integrando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6" b="0" i="0" u="none" strike="noStrike">
                <a:solidFill>
                  <a:srgbClr val="4A4A4A"/>
                </a:solidFill>
                <a:latin typeface="Embedded Inter"/>
              </a:rPr>
              <a:t>autoridades, ONGs e profissionais de saúde mental para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